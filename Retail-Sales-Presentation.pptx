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Franklin Gothic Medium" panose="020B0603020102020204" pitchFamily="34" charset="0"/>
      <p:regular r:id="rId13"/>
      <p:italic r:id="rId14"/>
    </p:embeddedFont>
    <p:embeddedFont>
      <p:font typeface="Geist" panose="020B0604020202020204" charset="0"/>
      <p:regular r:id="rId15"/>
    </p:embeddedFont>
    <p:embeddedFont>
      <p:font typeface="Geist 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8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cuments\SkillAhead\Capstone%20Project\CP%20Cleaned%20Dat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cuments\SkillAhead\Capstone%20Project\CP%20Cleaned%20Data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cuments\SkillAhead\Capstone%20Project\CP%20Cleaned%20Data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cuments\SkillAhead\Capstone%20Project\CP%20Cleaned%20Data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cuments\SkillAhead\Capstone%20Project\CP%20Cleaned%20Data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[CP Cleaned Data.xlsx]Data Summarization!PivotTable3</c:name>
    <c:fmtId val="12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tx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tx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tx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'Data Summarization'!$B$7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'Data Summarization'!$A$8:$A$11</c:f>
              <c:strCache>
                <c:ptCount val="3"/>
                <c:pt idx="0">
                  <c:v>Furniture</c:v>
                </c:pt>
                <c:pt idx="1">
                  <c:v>Office Supplies</c:v>
                </c:pt>
                <c:pt idx="2">
                  <c:v>Technology</c:v>
                </c:pt>
              </c:strCache>
            </c:strRef>
          </c:cat>
          <c:val>
            <c:numRef>
              <c:f>'Data Summarization'!$B$8:$B$11</c:f>
              <c:numCache>
                <c:formatCode>#,##0</c:formatCode>
                <c:ptCount val="3"/>
                <c:pt idx="0">
                  <c:v>728377.20369999995</c:v>
                </c:pt>
                <c:pt idx="1">
                  <c:v>705399.37399999995</c:v>
                </c:pt>
                <c:pt idx="2">
                  <c:v>827455.87300000002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41-4367-BBBF-395D6086800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091055712"/>
        <c:axId val="1797779200"/>
      </c:barChart>
      <c:catAx>
        <c:axId val="2091055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7779200"/>
        <c:crosses val="autoZero"/>
        <c:auto val="1"/>
        <c:lblAlgn val="ctr"/>
        <c:lblOffset val="100"/>
        <c:noMultiLvlLbl val="0"/>
      </c:catAx>
      <c:valAx>
        <c:axId val="1797779200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20910557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[CP Cleaned Data.xlsx]Data Summarization!PivotTable5</c:name>
    <c:fmtId val="20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tx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tx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tx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4.5833318296155418E-2"/>
          <c:y val="0.15491002933532444"/>
          <c:w val="0.90833336340768922"/>
          <c:h val="0.7167455302183465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'Data Summarization'!$E$7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'Data Summarization'!$D$8:$D$12</c:f>
              <c:strCache>
                <c:ptCount val="4"/>
                <c:pt idx="0">
                  <c:v>Central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'Data Summarization'!$E$8:$E$12</c:f>
              <c:numCache>
                <c:formatCode>#,##0</c:formatCode>
                <c:ptCount val="4"/>
                <c:pt idx="0">
                  <c:v>492646.91320000001</c:v>
                </c:pt>
                <c:pt idx="1">
                  <c:v>669237.35400000005</c:v>
                </c:pt>
                <c:pt idx="2">
                  <c:v>389128.49900000001</c:v>
                </c:pt>
                <c:pt idx="3">
                  <c:v>710219.68449999997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40-4EFF-80E7-E82BD16521C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843394048"/>
        <c:axId val="1898380896"/>
      </c:barChart>
      <c:catAx>
        <c:axId val="1843394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80896"/>
        <c:crosses val="autoZero"/>
        <c:auto val="1"/>
        <c:lblAlgn val="ctr"/>
        <c:lblOffset val="100"/>
        <c:noMultiLvlLbl val="0"/>
      </c:catAx>
      <c:valAx>
        <c:axId val="1898380896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18433940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[CP Cleaned Data.xlsx]Data Summarization!PivotTable6</c:name>
    <c:fmtId val="18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tx1"/>
          </a:solidFill>
          <a:ln>
            <a:noFill/>
          </a:ln>
          <a:effectLst/>
        </c:spPr>
        <c:dLbl>
          <c:idx val="0"/>
          <c:layout>
            <c:manualLayout>
              <c:x val="-5.0890585241730284E-3"/>
              <c:y val="0.26342022315703689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0.30407124681933845"/>
                  <c:h val="8.6757990867579904E-2"/>
                </c:manualLayout>
              </c15:layout>
            </c:ext>
          </c:extLst>
        </c:dLbl>
      </c:pivotFmt>
      <c:pivotFmt>
        <c:idx val="4"/>
        <c:spPr>
          <a:solidFill>
            <a:schemeClr val="tx2">
              <a:lumMod val="75000"/>
            </a:schemeClr>
          </a:solidFill>
          <a:ln>
            <a:noFill/>
          </a:ln>
          <a:effectLst/>
        </c:spPr>
        <c:dLbl>
          <c:idx val="0"/>
          <c:layout>
            <c:manualLayout>
              <c:x val="1.3624251167077397E-2"/>
              <c:y val="4.829348386246239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-5.3039209793432324E-2"/>
              <c:y val="-4.383945157540238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tx1"/>
          </a:solidFill>
          <a:ln>
            <a:noFill/>
          </a:ln>
          <a:effectLst/>
        </c:spPr>
        <c:dLbl>
          <c:idx val="0"/>
          <c:layout>
            <c:manualLayout>
              <c:x val="-5.0890585241730284E-3"/>
              <c:y val="0.26342022315703689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0.30407124681933845"/>
                  <c:h val="8.6757990867579904E-2"/>
                </c:manualLayout>
              </c15:layout>
            </c:ext>
          </c:extLst>
        </c:dLbl>
      </c:pivotFmt>
      <c:pivotFmt>
        <c:idx val="8"/>
        <c:spPr>
          <a:solidFill>
            <a:schemeClr val="tx2">
              <a:lumMod val="75000"/>
            </a:schemeClr>
          </a:solidFill>
          <a:ln>
            <a:noFill/>
          </a:ln>
          <a:effectLst/>
        </c:spPr>
        <c:dLbl>
          <c:idx val="0"/>
          <c:layout>
            <c:manualLayout>
              <c:x val="1.3624251167077397E-2"/>
              <c:y val="4.829348386246239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-5.3039209793432324E-2"/>
              <c:y val="-4.383945157540238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tx1"/>
          </a:solidFill>
          <a:ln>
            <a:noFill/>
          </a:ln>
          <a:effectLst/>
        </c:spPr>
        <c:dLbl>
          <c:idx val="0"/>
          <c:layout>
            <c:manualLayout>
              <c:x val="-5.0890585241730284E-3"/>
              <c:y val="0.26342022315703689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0.30407124681933845"/>
                  <c:h val="8.6757990867579904E-2"/>
                </c:manualLayout>
              </c15:layout>
            </c:ext>
          </c:extLst>
        </c:dLbl>
      </c:pivotFmt>
      <c:pivotFmt>
        <c:idx val="12"/>
        <c:spPr>
          <a:solidFill>
            <a:schemeClr val="tx2">
              <a:lumMod val="75000"/>
            </a:schemeClr>
          </a:solidFill>
          <a:ln>
            <a:noFill/>
          </a:ln>
          <a:effectLst/>
        </c:spPr>
        <c:dLbl>
          <c:idx val="0"/>
          <c:layout>
            <c:manualLayout>
              <c:x val="1.3624251167077397E-2"/>
              <c:y val="4.829348386246239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-5.3039209793432324E-2"/>
              <c:y val="-4.383945157540238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045797519584861"/>
          <c:y val="0.16816404798715229"/>
          <c:w val="0.57542548019537154"/>
          <c:h val="0.63323050372128142"/>
        </c:manualLayout>
      </c:layout>
      <c:pieChart>
        <c:varyColors val="1"/>
        <c:ser>
          <c:idx val="0"/>
          <c:order val="0"/>
          <c:tx>
            <c:strRef>
              <c:f>'Data Summarization'!$B$15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4EE-4C56-B27D-566D9EA97816}"/>
              </c:ext>
            </c:extLst>
          </c:dPt>
          <c:dPt>
            <c:idx val="1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4EE-4C56-B27D-566D9EA9781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4EE-4C56-B27D-566D9EA97816}"/>
              </c:ext>
            </c:extLst>
          </c:dPt>
          <c:dLbls>
            <c:dLbl>
              <c:idx val="0"/>
              <c:layout>
                <c:manualLayout>
                  <c:x val="-5.0890585241730284E-3"/>
                  <c:y val="0.26342022315703689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407124681933845"/>
                      <c:h val="8.675799086757990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14EE-4C56-B27D-566D9EA97816}"/>
                </c:ext>
              </c:extLst>
            </c:dLbl>
            <c:dLbl>
              <c:idx val="1"/>
              <c:layout>
                <c:manualLayout>
                  <c:x val="1.3624251167077397E-2"/>
                  <c:y val="4.8293483862462398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4EE-4C56-B27D-566D9EA97816}"/>
                </c:ext>
              </c:extLst>
            </c:dLbl>
            <c:dLbl>
              <c:idx val="2"/>
              <c:layout>
                <c:manualLayout>
                  <c:x val="-5.3039209793432324E-2"/>
                  <c:y val="-4.3839451575402387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4EE-4C56-B27D-566D9EA9781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'Data Summarization'!$A$16:$A$19</c:f>
              <c:strCache>
                <c:ptCount val="3"/>
                <c:pt idx="0">
                  <c:v>Consumer</c:v>
                </c:pt>
                <c:pt idx="1">
                  <c:v>Corporate</c:v>
                </c:pt>
                <c:pt idx="2">
                  <c:v>Home Office</c:v>
                </c:pt>
              </c:strCache>
            </c:strRef>
          </c:cat>
          <c:val>
            <c:numRef>
              <c:f>'Data Summarization'!$B$16:$B$19</c:f>
              <c:numCache>
                <c:formatCode>#,##0</c:formatCode>
                <c:ptCount val="3"/>
                <c:pt idx="0">
                  <c:v>1148060.531</c:v>
                </c:pt>
                <c:pt idx="1">
                  <c:v>688471.11479999998</c:v>
                </c:pt>
                <c:pt idx="2">
                  <c:v>424700.80489999999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4EE-4C56-B27D-566D9EA97816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1.6642387533303944E-2"/>
          <c:y val="0.85730461774469957"/>
          <c:w val="0.97782510659875477"/>
          <c:h val="0.1377494936420618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accent3">
                  <a:lumMod val="20000"/>
                  <a:lumOff val="8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[CP Cleaned Data.xlsx]Data Summarization!PivotTable7</c:name>
    <c:fmtId val="16"/>
  </c:pivotSource>
  <c:chart>
    <c:autoTitleDeleted val="1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tx1"/>
          </a:solidFill>
          <a:ln w="19050"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tx1"/>
          </a:solidFill>
          <a:ln w="19050">
            <a:noFill/>
          </a:ln>
          <a:effectLst/>
        </c:spPr>
      </c:pivotFmt>
      <c:pivotFmt>
        <c:idx val="12"/>
        <c:spPr>
          <a:solidFill>
            <a:schemeClr val="tx1"/>
          </a:solidFill>
          <a:ln w="19050">
            <a:noFill/>
          </a:ln>
          <a:effectLst/>
        </c:spPr>
      </c:pivotFmt>
      <c:pivotFmt>
        <c:idx val="13"/>
        <c:spPr>
          <a:solidFill>
            <a:schemeClr val="tx1"/>
          </a:solidFill>
          <a:ln w="19050">
            <a:noFill/>
          </a:ln>
          <a:effectLst/>
        </c:spPr>
      </c:pivotFmt>
      <c:pivotFmt>
        <c:idx val="14"/>
        <c:spPr>
          <a:solidFill>
            <a:schemeClr val="tx1"/>
          </a:solidFill>
          <a:ln w="19050">
            <a:noFill/>
          </a:ln>
          <a:effectLst/>
        </c:spPr>
        <c:dLbl>
          <c:idx val="0"/>
          <c:layout>
            <c:manualLayout>
              <c:x val="-0.11488253801869164"/>
              <c:y val="-8.963589388204147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tx1"/>
          </a:solidFill>
          <a:ln w="19050"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tx1"/>
          </a:solidFill>
          <a:ln w="19050">
            <a:noFill/>
          </a:ln>
          <a:effectLst/>
        </c:spPr>
      </c:pivotFmt>
      <c:pivotFmt>
        <c:idx val="17"/>
        <c:spPr>
          <a:solidFill>
            <a:schemeClr val="tx1"/>
          </a:solidFill>
          <a:ln w="19050">
            <a:noFill/>
          </a:ln>
          <a:effectLst/>
        </c:spPr>
      </c:pivotFmt>
      <c:pivotFmt>
        <c:idx val="18"/>
        <c:spPr>
          <a:solidFill>
            <a:schemeClr val="tx1"/>
          </a:solidFill>
          <a:ln w="19050">
            <a:noFill/>
          </a:ln>
          <a:effectLst/>
        </c:spPr>
      </c:pivotFmt>
      <c:pivotFmt>
        <c:idx val="19"/>
        <c:spPr>
          <a:solidFill>
            <a:schemeClr val="tx1"/>
          </a:solidFill>
          <a:ln w="19050">
            <a:noFill/>
          </a:ln>
          <a:effectLst/>
        </c:spPr>
        <c:dLbl>
          <c:idx val="0"/>
          <c:layout>
            <c:manualLayout>
              <c:x val="-0.11488253801869164"/>
              <c:y val="-8.963589388204147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tx1"/>
          </a:solidFill>
          <a:ln w="19050"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tx1"/>
          </a:solidFill>
          <a:ln w="19050">
            <a:noFill/>
          </a:ln>
          <a:effectLst/>
        </c:spPr>
      </c:pivotFmt>
      <c:pivotFmt>
        <c:idx val="22"/>
        <c:spPr>
          <a:solidFill>
            <a:schemeClr val="tx1"/>
          </a:solidFill>
          <a:ln w="19050">
            <a:noFill/>
          </a:ln>
          <a:effectLst/>
        </c:spPr>
      </c:pivotFmt>
      <c:pivotFmt>
        <c:idx val="23"/>
        <c:spPr>
          <a:solidFill>
            <a:schemeClr val="tx1"/>
          </a:solidFill>
          <a:ln w="19050">
            <a:noFill/>
          </a:ln>
          <a:effectLst/>
        </c:spPr>
      </c:pivotFmt>
      <c:pivotFmt>
        <c:idx val="24"/>
        <c:spPr>
          <a:solidFill>
            <a:schemeClr val="tx1"/>
          </a:solidFill>
          <a:ln w="19050">
            <a:noFill/>
          </a:ln>
          <a:effectLst/>
        </c:spPr>
        <c:dLbl>
          <c:idx val="0"/>
          <c:layout>
            <c:manualLayout>
              <c:x val="-0.11488253801869164"/>
              <c:y val="-8.963589388204147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3742137976878216"/>
          <c:y val="8.3682045127684304E-2"/>
          <c:w val="0.72428445138874609"/>
          <c:h val="0.8549511217786804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'Data Summarization'!$E$15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  <a:ln w="19050"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516-43FE-AD36-EF013DE834D4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516-43FE-AD36-EF013DE834D4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516-43FE-AD36-EF013DE834D4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E516-43FE-AD36-EF013DE834D4}"/>
              </c:ext>
            </c:extLst>
          </c:dPt>
          <c:dLbls>
            <c:dLbl>
              <c:idx val="3"/>
              <c:layout>
                <c:manualLayout>
                  <c:x val="-0.11488253801869164"/>
                  <c:y val="-8.963589388204147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516-43FE-AD36-EF013DE834D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'Data Summarization'!$D$16:$D$20</c:f>
              <c:strCache>
                <c:ptCount val="4"/>
                <c:pt idx="0">
                  <c:v>First Class</c:v>
                </c:pt>
                <c:pt idx="1">
                  <c:v>Same Day</c:v>
                </c:pt>
                <c:pt idx="2">
                  <c:v>Second Class</c:v>
                </c:pt>
                <c:pt idx="3">
                  <c:v>Standard Class</c:v>
                </c:pt>
              </c:strCache>
            </c:strRef>
          </c:cat>
          <c:val>
            <c:numRef>
              <c:f>'Data Summarization'!$E$16:$E$20</c:f>
              <c:numCache>
                <c:formatCode>#,##0</c:formatCode>
                <c:ptCount val="4"/>
                <c:pt idx="0">
                  <c:v>345572.2573</c:v>
                </c:pt>
                <c:pt idx="1">
                  <c:v>125219.039</c:v>
                </c:pt>
                <c:pt idx="2">
                  <c:v>449891.2194</c:v>
                </c:pt>
                <c:pt idx="3">
                  <c:v>1340549.9350000001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516-43FE-AD36-EF013DE834D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55507903"/>
        <c:axId val="56397439"/>
      </c:barChart>
      <c:valAx>
        <c:axId val="56397439"/>
        <c:scaling>
          <c:orientation val="minMax"/>
        </c:scaling>
        <c:delete val="1"/>
        <c:axPos val="b"/>
        <c:numFmt formatCode="#,##0" sourceLinked="1"/>
        <c:majorTickMark val="out"/>
        <c:minorTickMark val="none"/>
        <c:tickLblPos val="nextTo"/>
        <c:crossAx val="55507903"/>
        <c:crosses val="autoZero"/>
        <c:crossBetween val="between"/>
      </c:valAx>
      <c:catAx>
        <c:axId val="55507903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39743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[CP Cleaned Data.xlsx]Data Summarization!PivotTable8</c:name>
    <c:fmtId val="45"/>
  </c:pivotSource>
  <c:chart>
    <c:autoTitleDeleted val="1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tx1"/>
            </a:solidFill>
            <a:prstDash val="sysDot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bg2">
                <a:lumMod val="9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tx1"/>
            </a:solidFill>
            <a:prstDash val="sysDot"/>
            <a:round/>
          </a:ln>
          <a:effectLst/>
        </c:spPr>
        <c:marker>
          <c:symbol val="none"/>
        </c:marker>
        <c:dLbl>
          <c:idx val="0"/>
          <c:layout>
            <c:manualLayout>
              <c:x val="-6.4568200161420793E-3"/>
              <c:y val="3.921568627450969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bg2">
                <a:lumMod val="90000"/>
              </a:schemeClr>
            </a:solidFill>
            <a:round/>
          </a:ln>
          <a:effectLst/>
        </c:spPr>
        <c:marker>
          <c:symbol val="none"/>
        </c:marker>
      </c:pivotFmt>
      <c:pivotFmt>
        <c:idx val="10"/>
        <c:spPr>
          <a:solidFill>
            <a:schemeClr val="accent1"/>
          </a:solidFill>
          <a:ln w="28575" cap="rnd">
            <a:solidFill>
              <a:schemeClr val="bg2">
                <a:lumMod val="90000"/>
              </a:schemeClr>
            </a:solidFill>
            <a:round/>
          </a:ln>
          <a:effectLst/>
        </c:spPr>
        <c:marker>
          <c:symbol val="none"/>
        </c:marker>
      </c:pivotFmt>
      <c:pivotFmt>
        <c:idx val="11"/>
        <c:spPr>
          <a:solidFill>
            <a:schemeClr val="accent1"/>
          </a:solidFill>
          <a:ln w="28575" cap="rnd">
            <a:solidFill>
              <a:schemeClr val="bg2">
                <a:lumMod val="90000"/>
              </a:schemeClr>
            </a:solidFill>
            <a:round/>
          </a:ln>
          <a:effectLst/>
        </c:spPr>
        <c:marker>
          <c:symbol val="none"/>
        </c:marker>
      </c:pivotFmt>
      <c:pivotFmt>
        <c:idx val="12"/>
        <c:spPr>
          <a:solidFill>
            <a:schemeClr val="accent1"/>
          </a:solidFill>
          <a:ln w="28575" cap="rnd">
            <a:solidFill>
              <a:schemeClr val="bg2">
                <a:lumMod val="90000"/>
              </a:schemeClr>
            </a:solidFill>
            <a:round/>
          </a:ln>
          <a:effectLst/>
        </c:spPr>
        <c:marker>
          <c:symbol val="none"/>
        </c:marker>
      </c:pivotFmt>
      <c:pivotFmt>
        <c:idx val="13"/>
        <c:spPr>
          <a:solidFill>
            <a:schemeClr val="accent1"/>
          </a:solidFill>
          <a:ln w="28575" cap="rnd">
            <a:solidFill>
              <a:schemeClr val="tx1"/>
            </a:solidFill>
            <a:prstDash val="sysDot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tx1"/>
            </a:solidFill>
            <a:prstDash val="sysDot"/>
            <a:round/>
          </a:ln>
          <a:effectLst/>
        </c:spPr>
        <c:marker>
          <c:symbol val="none"/>
        </c:marker>
        <c:dLbl>
          <c:idx val="0"/>
          <c:layout>
            <c:manualLayout>
              <c:x val="-6.4568200161420793E-3"/>
              <c:y val="3.921568627450969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chemeClr val="tx1"/>
            </a:solidFill>
            <a:prstDash val="sysDot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8575" cap="rnd">
            <a:solidFill>
              <a:schemeClr val="tx1"/>
            </a:solidFill>
            <a:prstDash val="sysDot"/>
            <a:round/>
          </a:ln>
          <a:effectLst/>
        </c:spPr>
        <c:marker>
          <c:symbol val="none"/>
        </c:marker>
        <c:dLbl>
          <c:idx val="0"/>
          <c:layout>
            <c:manualLayout>
              <c:x val="-6.4568200161420793E-3"/>
              <c:y val="3.921568627450969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'Data Summarization'!$B$23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tx1"/>
              </a:solidFill>
              <a:prstDash val="sysDot"/>
              <a:round/>
            </a:ln>
            <a:effectLst/>
          </c:spPr>
          <c:marker>
            <c:symbol val="none"/>
          </c:marker>
          <c:dPt>
            <c:idx val="0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0-4A1F-4AF0-B447-52FA396D03D9}"/>
              </c:ext>
            </c:extLst>
          </c:dPt>
          <c:dLbls>
            <c:dLbl>
              <c:idx val="0"/>
              <c:layout>
                <c:manualLayout>
                  <c:x val="-2.6001519536269176E-2"/>
                  <c:y val="4.884864631677743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A1F-4AF0-B447-52FA396D03D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'Data Summarization'!$A$24:$A$28</c:f>
              <c:strCach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strCache>
            </c:strRef>
          </c:cat>
          <c:val>
            <c:numRef>
              <c:f>'Data Summarization'!$B$24:$B$28</c:f>
              <c:numCache>
                <c:formatCode>#,##0</c:formatCode>
                <c:ptCount val="4"/>
                <c:pt idx="0">
                  <c:v>466737.54109999997</c:v>
                </c:pt>
                <c:pt idx="1">
                  <c:v>467302.3884</c:v>
                </c:pt>
                <c:pt idx="2">
                  <c:v>602306.34499999997</c:v>
                </c:pt>
                <c:pt idx="3">
                  <c:v>719726.47939999995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A1F-4AF0-B447-52FA396D03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92092079"/>
        <c:axId val="1368330047"/>
      </c:lineChart>
      <c:catAx>
        <c:axId val="19920920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68330047"/>
        <c:crosses val="autoZero"/>
        <c:auto val="1"/>
        <c:lblAlgn val="ctr"/>
        <c:lblOffset val="100"/>
        <c:noMultiLvlLbl val="0"/>
      </c:catAx>
      <c:valAx>
        <c:axId val="1368330047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19920920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>
        <a:lumMod val="75000"/>
      </a:schemeClr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4643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810438" y="2420243"/>
            <a:ext cx="6296860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Retail Business Company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3781404" y="3124625"/>
            <a:ext cx="6296860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Descriptive Analytics Report · 2015–2018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524001" y="3700661"/>
            <a:ext cx="10116456" cy="1118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dirty="0">
                <a:solidFill>
                  <a:srgbClr val="EBEDF0"/>
                </a:solidFill>
                <a:latin typeface="Franklin Gothic Medium" panose="020B0603020102020204" pitchFamily="34" charset="0"/>
                <a:ea typeface="Geist" pitchFamily="34" charset="-122"/>
                <a:cs typeface="Geist" pitchFamily="34" charset="-120"/>
              </a:rPr>
              <a:t>A structured F.I.R.E. analysis — Facts, Insights, Recommendations &amp; Expected Outcomes </a:t>
            </a:r>
          </a:p>
          <a:p>
            <a:pPr marL="0" indent="0" algn="ctr">
              <a:lnSpc>
                <a:spcPct val="108000"/>
              </a:lnSpc>
              <a:buNone/>
            </a:pPr>
            <a:r>
              <a:rPr lang="en-US" dirty="0">
                <a:solidFill>
                  <a:srgbClr val="EBEDF0"/>
                </a:solidFill>
                <a:latin typeface="Franklin Gothic Medium" panose="020B0603020102020204" pitchFamily="34" charset="0"/>
                <a:ea typeface="Geist" pitchFamily="34" charset="-122"/>
                <a:cs typeface="Geist" pitchFamily="34" charset="-120"/>
              </a:rPr>
              <a:t>Prepared for management to guide strategic decision-making and support sustained revenue growth.</a:t>
            </a:r>
          </a:p>
          <a:p>
            <a:pPr marL="0" indent="0" algn="ctr">
              <a:lnSpc>
                <a:spcPct val="108000"/>
              </a:lnSpc>
              <a:buNone/>
            </a:pPr>
            <a:r>
              <a:rPr lang="en-US" dirty="0">
                <a:solidFill>
                  <a:srgbClr val="EBEDF0"/>
                </a:solidFill>
                <a:latin typeface="Franklin Gothic Medium" panose="020B0603020102020204" pitchFamily="34" charset="0"/>
                <a:ea typeface="Geist" pitchFamily="34" charset="-122"/>
                <a:cs typeface="Geist" pitchFamily="34" charset="-120"/>
              </a:rPr>
              <a:t>Prepared by Emmanuel Israel – Data Analyst </a:t>
            </a:r>
          </a:p>
        </p:txBody>
      </p:sp>
      <p:pic>
        <p:nvPicPr>
          <p:cNvPr id="6" name="Graphic 11" descr="Shopping cart with solid fill">
            <a:extLst>
              <a:ext uri="{FF2B5EF4-FFF2-40B4-BE49-F238E27FC236}">
                <a16:creationId xmlns:a16="http://schemas.microsoft.com/office/drawing/2014/main" id="{D18A7379-B4B2-924A-0063-9A63193BB0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0889" y="701019"/>
            <a:ext cx="3296719" cy="28177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66378"/>
            <a:ext cx="678342" cy="287139"/>
          </a:xfrm>
          <a:prstGeom prst="roundRect">
            <a:avLst>
              <a:gd name="adj" fmla="val 22118"/>
            </a:avLst>
          </a:prstGeom>
          <a:solidFill>
            <a:srgbClr val="00194D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923032"/>
            <a:ext cx="106111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FACTS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229122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Business at a Glance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221309"/>
            <a:ext cx="531620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b="1" kern="0" spc="-9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$2.26M</a:t>
            </a:r>
            <a:endParaRPr lang="en-US" sz="4900" dirty="0"/>
          </a:p>
        </p:txBody>
      </p:sp>
      <p:sp>
        <p:nvSpPr>
          <p:cNvPr id="6" name="Text 4"/>
          <p:cNvSpPr/>
          <p:nvPr/>
        </p:nvSpPr>
        <p:spPr>
          <a:xfrm>
            <a:off x="661475" y="3081238"/>
            <a:ext cx="531620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Total Sales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61475" y="3501727"/>
            <a:ext cx="5316206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Revenue generated across all categories, regions, and segments over the full reporting period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213915" y="2221309"/>
            <a:ext cx="5316305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b="1" kern="0" spc="-9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4,922</a:t>
            </a:r>
            <a:endParaRPr lang="en-US" sz="4900" dirty="0"/>
          </a:p>
        </p:txBody>
      </p:sp>
      <p:sp>
        <p:nvSpPr>
          <p:cNvPr id="9" name="Text 7"/>
          <p:cNvSpPr/>
          <p:nvPr/>
        </p:nvSpPr>
        <p:spPr>
          <a:xfrm>
            <a:off x="6213915" y="3081238"/>
            <a:ext cx="531630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Unique Orders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213915" y="3501727"/>
            <a:ext cx="5316305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Individual transactions processed between 2015 and 2018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61475" y="4465538"/>
            <a:ext cx="531620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b="1" kern="0" spc="-9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$459</a:t>
            </a:r>
            <a:endParaRPr lang="en-US" sz="4900" dirty="0"/>
          </a:p>
        </p:txBody>
      </p:sp>
      <p:sp>
        <p:nvSpPr>
          <p:cNvPr id="12" name="Text 10"/>
          <p:cNvSpPr/>
          <p:nvPr/>
        </p:nvSpPr>
        <p:spPr>
          <a:xfrm>
            <a:off x="661475" y="5325467"/>
            <a:ext cx="531620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Average Order Value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661475" y="5745956"/>
            <a:ext cx="5316206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Mean sales per order across the entire reporting period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213915" y="4465538"/>
            <a:ext cx="5316305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b="1" kern="0" spc="-9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4</a:t>
            </a:r>
            <a:endParaRPr lang="en-US" sz="4900" dirty="0"/>
          </a:p>
        </p:txBody>
      </p:sp>
      <p:sp>
        <p:nvSpPr>
          <p:cNvPr id="15" name="Text 13"/>
          <p:cNvSpPr/>
          <p:nvPr/>
        </p:nvSpPr>
        <p:spPr>
          <a:xfrm>
            <a:off x="6213915" y="5325467"/>
            <a:ext cx="531630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Years Analyzed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6213915" y="5745956"/>
            <a:ext cx="5316305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Full-year data from 2015 through 2018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13184"/>
            <a:ext cx="678342" cy="287139"/>
          </a:xfrm>
          <a:prstGeom prst="roundRect">
            <a:avLst>
              <a:gd name="adj" fmla="val 22118"/>
            </a:avLst>
          </a:prstGeom>
          <a:solidFill>
            <a:srgbClr val="00194D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769838"/>
            <a:ext cx="106111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FACTS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075928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Sales by Category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6332776" y="2162671"/>
            <a:ext cx="5203794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Technology Leads Revenue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332776" y="2658765"/>
            <a:ext cx="5203794" cy="164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Technology generated the highest share of total revenue at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$827,456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closely followed by Furniture (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$728,377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) and Office Supplies (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$705,399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).</a:t>
            </a:r>
            <a:endParaRPr lang="en-US" sz="14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Revenue is well-distributed across all three categories, with no single category dominating disproportionately — a sign of a balanced product portfolio.</a:t>
            </a:r>
            <a:endParaRPr lang="en-US" sz="1450" dirty="0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FBE5949E-FD49-4A83-9B5C-07022BBDDB7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5474483"/>
              </p:ext>
            </p:extLst>
          </p:nvPr>
        </p:nvGraphicFramePr>
        <p:xfrm>
          <a:off x="774174" y="2059806"/>
          <a:ext cx="5321673" cy="37222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13184"/>
            <a:ext cx="678342" cy="287139"/>
          </a:xfrm>
          <a:prstGeom prst="roundRect">
            <a:avLst>
              <a:gd name="adj" fmla="val 22118"/>
            </a:avLst>
          </a:prstGeom>
          <a:solidFill>
            <a:srgbClr val="00194D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769838"/>
            <a:ext cx="106111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FACTS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075928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Sales by Region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6332776" y="2162671"/>
            <a:ext cx="5203794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West Region Dominates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332776" y="2658765"/>
            <a:ext cx="5203794" cy="188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West Region generated the highest revenue at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$710,220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followed closely by the East (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$669,237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). The Central and South regions contributed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$492,647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and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$389,128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respectively.</a:t>
            </a:r>
            <a:endParaRPr lang="en-US" sz="14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West and East together account for over 60% of total sales, highlighting a strong coastal market presence and a clear opportunity to grow in the South.</a:t>
            </a:r>
            <a:endParaRPr lang="en-US" sz="1450" dirty="0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F3DF7193-A3E2-48F1-AD45-3013F28FCD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63192681"/>
              </p:ext>
            </p:extLst>
          </p:nvPr>
        </p:nvGraphicFramePr>
        <p:xfrm>
          <a:off x="968979" y="2006222"/>
          <a:ext cx="5127021" cy="41079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13184"/>
            <a:ext cx="678342" cy="287139"/>
          </a:xfrm>
          <a:prstGeom prst="roundRect">
            <a:avLst>
              <a:gd name="adj" fmla="val 22118"/>
            </a:avLst>
          </a:prstGeom>
          <a:solidFill>
            <a:srgbClr val="00194D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769838"/>
            <a:ext cx="106111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FACTS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075928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Sales by Customer Segment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6332776" y="2162671"/>
            <a:ext cx="5203794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Consumer Segment Drives Demand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332776" y="2658765"/>
            <a:ext cx="5203794" cy="164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Consumer segment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generated the highest sales at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$1,148,061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nearly 51% of total revenue. Corporate contributed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$688,471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and Home Office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$424,701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4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Consumer dominance underscores strong individual buyer demand, while Corporate and Home Office segments present meaningful untapped growth potential.</a:t>
            </a:r>
            <a:endParaRPr lang="en-US" sz="1450" dirty="0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E0926877-7AFC-41BC-84D5-6697932677B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856545"/>
              </p:ext>
            </p:extLst>
          </p:nvPr>
        </p:nvGraphicFramePr>
        <p:xfrm>
          <a:off x="774878" y="2162671"/>
          <a:ext cx="5321121" cy="39821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13184"/>
            <a:ext cx="678342" cy="287139"/>
          </a:xfrm>
          <a:prstGeom prst="roundRect">
            <a:avLst>
              <a:gd name="adj" fmla="val 22118"/>
            </a:avLst>
          </a:prstGeom>
          <a:solidFill>
            <a:srgbClr val="00194D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769838"/>
            <a:ext cx="106111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FACTS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075928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Sales by Ship Mode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6332776" y="2162671"/>
            <a:ext cx="5203794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Standard Class is Overwhelmingly Preferred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332776" y="2658765"/>
            <a:ext cx="5203794" cy="164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Standard Class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shipping accounts for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$1,340,550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nearly 59% of all sales by ship mode. Second Class and First Class follow at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$449,891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and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$345,572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respectively.</a:t>
            </a:r>
            <a:endParaRPr lang="en-US" sz="14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Same Day delivery represents the smallest share at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$125,219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suggesting limited customer demand for premium-speed fulfillment or limited service availability.</a:t>
            </a:r>
            <a:endParaRPr lang="en-US" sz="1450" dirty="0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1A76B8D7-C5C1-4135-9025-28F3DD084D6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49685061"/>
              </p:ext>
            </p:extLst>
          </p:nvPr>
        </p:nvGraphicFramePr>
        <p:xfrm>
          <a:off x="450376" y="2142701"/>
          <a:ext cx="6076481" cy="35211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338923" cy="143470"/>
          </a:xfrm>
          <a:prstGeom prst="roundRect">
            <a:avLst>
              <a:gd name="adj" fmla="val 22134"/>
            </a:avLst>
          </a:prstGeom>
          <a:solidFill>
            <a:srgbClr val="00194D"/>
          </a:solidFill>
          <a:ln/>
        </p:spPr>
      </p:sp>
      <p:sp>
        <p:nvSpPr>
          <p:cNvPr id="3" name="Text 1"/>
          <p:cNvSpPr/>
          <p:nvPr/>
        </p:nvSpPr>
        <p:spPr>
          <a:xfrm>
            <a:off x="718127" y="548084"/>
            <a:ext cx="835203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FACTS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Sales Trend: 2015–2018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7199709"/>
            <a:ext cx="11478330" cy="9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Sales grew steadily from </a:t>
            </a:r>
            <a:r>
              <a:rPr lang="en-US" sz="7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$466,738 in 2015</a:t>
            </a: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to a peak of </a:t>
            </a:r>
            <a:r>
              <a:rPr lang="en-US" sz="7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$719,726 in 2018</a:t>
            </a: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a </a:t>
            </a:r>
            <a:r>
              <a:rPr lang="en-US" sz="70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54% increase</a:t>
            </a: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over four years. The strongest acceleration occurred between 2016 and 2018, signaling growing market traction and effective business momentum.</a:t>
            </a:r>
            <a:endParaRPr lang="en-US" sz="700" dirty="0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9CAE9880-505A-4A48-B14E-90D2EA63368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1912359"/>
              </p:ext>
            </p:extLst>
          </p:nvPr>
        </p:nvGraphicFramePr>
        <p:xfrm>
          <a:off x="1248229" y="1036340"/>
          <a:ext cx="8447314" cy="5273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61475" y="561677"/>
            <a:ext cx="753845" cy="242292"/>
          </a:xfrm>
          <a:prstGeom prst="roundRect">
            <a:avLst>
              <a:gd name="adj" fmla="val 22117"/>
            </a:avLst>
          </a:prstGeom>
          <a:solidFill>
            <a:srgbClr val="00194D"/>
          </a:solidFill>
          <a:ln/>
        </p:spPr>
      </p:sp>
      <p:sp>
        <p:nvSpPr>
          <p:cNvPr id="4" name="Text 1"/>
          <p:cNvSpPr/>
          <p:nvPr/>
        </p:nvSpPr>
        <p:spPr>
          <a:xfrm>
            <a:off x="757119" y="609501"/>
            <a:ext cx="1172141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INSIGHTS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61475" y="857746"/>
            <a:ext cx="6296860" cy="518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100" b="1" kern="0" spc="-6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Key Findings</a:t>
            </a:r>
            <a:endParaRPr lang="en-US" sz="3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577876"/>
            <a:ext cx="6296860" cy="107870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6163" y="1756370"/>
            <a:ext cx="5863681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Technology Leads Categories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916163" y="2096095"/>
            <a:ext cx="5863681" cy="381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Technology generated the highest revenue at $827,456, with Furniture and Office Supplies close behind — a well-balanced product mix.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791123"/>
            <a:ext cx="6296860" cy="107870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6163" y="2969617"/>
            <a:ext cx="5863681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West &amp; East Drive Regional Revenue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916163" y="3309342"/>
            <a:ext cx="5863681" cy="381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West Region led at $710,220, with East close behind. Together they represent over 60% of total sales, highlighting a strong coastal market presence.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004370"/>
            <a:ext cx="6296860" cy="107870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6163" y="4182864"/>
            <a:ext cx="5863681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Consumer Segment Dominates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916163" y="4522589"/>
            <a:ext cx="5863681" cy="381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Consumer generated $1,148,061 — nearly 51% of total revenue — confirming strong individual buyer demand across all regions.</a:t>
            </a:r>
            <a:endParaRPr lang="en-US" sz="12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217616"/>
            <a:ext cx="6296860" cy="107870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16163" y="5396111"/>
            <a:ext cx="5863681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Consistent Year-on-Year Growth</a:t>
            </a:r>
            <a:endParaRPr lang="en-US" sz="1550" dirty="0"/>
          </a:p>
        </p:txBody>
      </p:sp>
      <p:sp>
        <p:nvSpPr>
          <p:cNvPr id="17" name="Text 10"/>
          <p:cNvSpPr/>
          <p:nvPr/>
        </p:nvSpPr>
        <p:spPr>
          <a:xfrm>
            <a:off x="916163" y="5735836"/>
            <a:ext cx="5863681" cy="381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Sales rose 54% from 2015 to 2018, with the sharpest acceleration between 2016 and 2018, signaling growing market traction.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8205"/>
            <a:ext cx="1642228" cy="273645"/>
          </a:xfrm>
          <a:prstGeom prst="roundRect">
            <a:avLst>
              <a:gd name="adj" fmla="val 22121"/>
            </a:avLst>
          </a:prstGeom>
          <a:solidFill>
            <a:srgbClr val="00194D"/>
          </a:solidFill>
          <a:ln/>
        </p:spPr>
      </p:sp>
      <p:sp>
        <p:nvSpPr>
          <p:cNvPr id="3" name="Text 1"/>
          <p:cNvSpPr/>
          <p:nvPr/>
        </p:nvSpPr>
        <p:spPr>
          <a:xfrm>
            <a:off x="769521" y="612180"/>
            <a:ext cx="2035719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900509"/>
            <a:ext cx="10868745" cy="585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500" b="1" kern="0" spc="-7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Strategic Priorities</a:t>
            </a:r>
            <a:endParaRPr lang="en-US" sz="3500" dirty="0"/>
          </a:p>
        </p:txBody>
      </p:sp>
      <p:sp>
        <p:nvSpPr>
          <p:cNvPr id="5" name="Shape 3"/>
          <p:cNvSpPr/>
          <p:nvPr/>
        </p:nvSpPr>
        <p:spPr>
          <a:xfrm>
            <a:off x="661475" y="1743670"/>
            <a:ext cx="5348551" cy="2192238"/>
          </a:xfrm>
          <a:prstGeom prst="roundRect">
            <a:avLst>
              <a:gd name="adj" fmla="val 3452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0602" y="1942802"/>
            <a:ext cx="540431" cy="540445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9228" y="2091333"/>
            <a:ext cx="243179" cy="24318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0602" y="2654895"/>
            <a:ext cx="4950296" cy="29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b="1" kern="0" spc="-35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Strengthen Regional Performance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860602" y="3050679"/>
            <a:ext cx="4950296" cy="457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Maintain West Region leadership while developing targeted initiatives to close the performance gap in the South Region.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81670" y="1743670"/>
            <a:ext cx="5348551" cy="2192238"/>
          </a:xfrm>
          <a:prstGeom prst="roundRect">
            <a:avLst>
              <a:gd name="adj" fmla="val 3452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80797" y="1942802"/>
            <a:ext cx="540431" cy="540445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29423" y="2091333"/>
            <a:ext cx="243179" cy="24318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80797" y="2654895"/>
            <a:ext cx="4950296" cy="29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b="1" kern="0" spc="-35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Invest in the Consumer Segment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6380797" y="3050679"/>
            <a:ext cx="4950296" cy="686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Deepen engagement with the highest-value segment while developing tailored strategies to grow Corporate and Home Office revenue.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61475" y="4107557"/>
            <a:ext cx="5348551" cy="2192238"/>
          </a:xfrm>
          <a:prstGeom prst="roundRect">
            <a:avLst>
              <a:gd name="adj" fmla="val 3452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60602" y="4306689"/>
            <a:ext cx="540431" cy="540445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9228" y="4455220"/>
            <a:ext cx="243179" cy="24318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0602" y="5018782"/>
            <a:ext cx="4950296" cy="29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b="1" kern="0" spc="-35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Sustain Sales Momentum</a:t>
            </a:r>
            <a:endParaRPr lang="en-US" sz="1750" dirty="0"/>
          </a:p>
        </p:txBody>
      </p:sp>
      <p:sp>
        <p:nvSpPr>
          <p:cNvPr id="19" name="Text 14"/>
          <p:cNvSpPr/>
          <p:nvPr/>
        </p:nvSpPr>
        <p:spPr>
          <a:xfrm>
            <a:off x="860602" y="5414566"/>
            <a:ext cx="4950296" cy="686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Build on the 2015–2018 growth trajectory through targeted marketing, customer retention programs, and market expansion strategies.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6181670" y="4107557"/>
            <a:ext cx="5348551" cy="2192238"/>
          </a:xfrm>
          <a:prstGeom prst="roundRect">
            <a:avLst>
              <a:gd name="adj" fmla="val 3452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380797" y="4306689"/>
            <a:ext cx="540431" cy="540445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29423" y="4455220"/>
            <a:ext cx="243179" cy="24318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380797" y="5018782"/>
            <a:ext cx="4950296" cy="29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b="1" kern="0" spc="-35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Address Underperforming Areas</a:t>
            </a:r>
            <a:endParaRPr lang="en-US" sz="1750" dirty="0"/>
          </a:p>
        </p:txBody>
      </p:sp>
      <p:sp>
        <p:nvSpPr>
          <p:cNvPr id="24" name="Text 18"/>
          <p:cNvSpPr/>
          <p:nvPr/>
        </p:nvSpPr>
        <p:spPr>
          <a:xfrm>
            <a:off x="6380797" y="5414566"/>
            <a:ext cx="4950296" cy="686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Analyze root causes limiting South Region and Home Office performance, then implement focused initiatives to increase their contribution.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4" y="205643"/>
            <a:ext cx="2300089" cy="457634"/>
          </a:xfrm>
          <a:prstGeom prst="roundRect">
            <a:avLst>
              <a:gd name="adj" fmla="val 22134"/>
            </a:avLst>
          </a:prstGeom>
          <a:solidFill>
            <a:srgbClr val="00194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27311" y="370662"/>
            <a:ext cx="2243436" cy="379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EXPECTED OUTCOMES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5429" y="1014898"/>
            <a:ext cx="3801343" cy="643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The Path Forward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55430" y="2121197"/>
            <a:ext cx="5319083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0" spc="-19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Three Key Revenue Drivers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1475" y="2507081"/>
            <a:ext cx="5987955" cy="311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strongest revenue strategy centers on three proven pillars: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55429" y="2882257"/>
            <a:ext cx="5319083" cy="1063892"/>
          </a:xfrm>
          <a:prstGeom prst="rect">
            <a:avLst/>
          </a:prstGeom>
          <a:noFill/>
          <a:ln/>
        </p:spPr>
        <p:txBody>
          <a:bodyPr wrap="square" lIns="0" tIns="37804" rIns="0" bIns="0" rtlCol="0" anchor="t">
            <a:normAutofit/>
          </a:bodyPr>
          <a:lstStyle/>
          <a:p>
            <a:pPr marL="142240" indent="-142240" algn="l">
              <a:lnSpc>
                <a:spcPct val="150000"/>
              </a:lnSpc>
              <a:buSzPct val="100000"/>
              <a:buChar char="•"/>
            </a:pP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West Region</a:t>
            </a: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market strength and established customer base</a:t>
            </a:r>
            <a:endParaRPr lang="en-US" sz="1200" dirty="0"/>
          </a:p>
          <a:p>
            <a:pPr marL="142240" indent="-142240" algn="l">
              <a:lnSpc>
                <a:spcPct val="150000"/>
              </a:lnSpc>
              <a:buSzPct val="100000"/>
              <a:buChar char="•"/>
            </a:pP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Consumer Segment</a:t>
            </a: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highest demand and largest revenue share</a:t>
            </a:r>
            <a:endParaRPr lang="en-US" sz="1200" dirty="0"/>
          </a:p>
          <a:p>
            <a:pPr marL="142240" indent="-142240" algn="l">
              <a:lnSpc>
                <a:spcPct val="150000"/>
              </a:lnSpc>
              <a:buSzPct val="100000"/>
              <a:buChar char="•"/>
            </a:pP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2018 Growth Momentum</a:t>
            </a: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peak performance to build upon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20762" y="3908749"/>
            <a:ext cx="5928668" cy="608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1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Leveraging these areas will drive higher overall sales, </a:t>
            </a:r>
          </a:p>
          <a:p>
            <a:pPr marL="0" indent="0" algn="l">
              <a:lnSpc>
                <a:spcPct val="81000"/>
              </a:lnSpc>
              <a:buNone/>
            </a:pPr>
            <a:r>
              <a:rPr lang="en-US" sz="1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improved regional balance and sustained year-on-year </a:t>
            </a:r>
          </a:p>
          <a:p>
            <a:pPr marL="0" indent="0" algn="l">
              <a:lnSpc>
                <a:spcPct val="81000"/>
              </a:lnSpc>
              <a:buNone/>
            </a:pPr>
            <a:r>
              <a:rPr lang="en-US" sz="1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growth.</a:t>
            </a:r>
            <a:endParaRPr lang="en-US" sz="16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487" y="1113135"/>
            <a:ext cx="5319083" cy="53192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682</Words>
  <Application>Microsoft Office PowerPoint</Application>
  <PresentationFormat>Widescreen</PresentationFormat>
  <Paragraphs>87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Geist Bold</vt:lpstr>
      <vt:lpstr>Geist</vt:lpstr>
      <vt:lpstr>Arial</vt:lpstr>
      <vt:lpstr>Franklin Gothic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lastModifiedBy>Emmanuel Israel</cp:lastModifiedBy>
  <cp:revision>6</cp:revision>
  <dcterms:created xsi:type="dcterms:W3CDTF">2026-08-20T14:31:10Z</dcterms:created>
  <dcterms:modified xsi:type="dcterms:W3CDTF">2026-08-26T17:05:41Z</dcterms:modified>
</cp:coreProperties>
</file>